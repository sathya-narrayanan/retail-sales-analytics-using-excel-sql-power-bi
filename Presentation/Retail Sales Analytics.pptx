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64" r:id="rId3"/>
    <p:sldId id="275" r:id="rId4"/>
    <p:sldId id="278" r:id="rId5"/>
    <p:sldId id="279" r:id="rId6"/>
    <p:sldId id="280" r:id="rId7"/>
    <p:sldId id="281" r:id="rId8"/>
    <p:sldId id="282" r:id="rId9"/>
    <p:sldId id="283" r:id="rId10"/>
    <p:sldId id="265" r:id="rId11"/>
    <p:sldId id="266" r:id="rId12"/>
    <p:sldId id="267" r:id="rId13"/>
    <p:sldId id="268" r:id="rId14"/>
    <p:sldId id="269" r:id="rId15"/>
    <p:sldId id="270" r:id="rId16"/>
    <p:sldId id="271" r:id="rId17"/>
    <p:sldId id="272" r:id="rId18"/>
    <p:sldId id="273" r:id="rId19"/>
    <p:sldId id="274" r:id="rId20"/>
    <p:sldId id="286" r:id="rId21"/>
    <p:sldId id="287" r:id="rId22"/>
    <p:sldId id="288" r:id="rId23"/>
    <p:sldId id="289" r:id="rId24"/>
    <p:sldId id="294" r:id="rId25"/>
    <p:sldId id="290" r:id="rId26"/>
    <p:sldId id="292" r:id="rId27"/>
    <p:sldId id="291" r:id="rId28"/>
    <p:sldId id="29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71" d="100"/>
          <a:sy n="71" d="100"/>
        </p:scale>
        <p:origin x="741"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C4823-B8C2-4F18-A879-E71C53C3A577}"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EFC4823-B8C2-4F18-A879-E71C53C3A577}" type="datetimeFigureOut">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FC4823-B8C2-4F18-A879-E71C53C3A577}" type="datetimeFigureOut">
              <a:rPr lang="en-IN" smtClean="0"/>
              <a:t>15-08-2025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EFC4823-B8C2-4F18-A879-E71C53C3A577}" type="datetimeFigureOut">
              <a:rPr lang="en-IN" smtClean="0"/>
              <a:t>15-08-2025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C4823-B8C2-4F18-A879-E71C53C3A577}" type="datetimeFigureOut">
              <a:rPr lang="en-IN" smtClean="0"/>
              <a:t>15-08-2025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C4823-B8C2-4F18-A879-E71C53C3A577}" type="datetimeFigureOut">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FC4823-B8C2-4F18-A879-E71C53C3A577}"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75FA67-658C-4647-8032-C6B44CF2C9B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FC4823-B8C2-4F18-A879-E71C53C3A577}" type="datetimeFigureOut">
              <a:rPr lang="en-IN" smtClean="0"/>
              <a:t>15-08-2025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75FA67-658C-4647-8032-C6B44CF2C9B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1026" name="Picture 2" descr="https://static.vecteezy.com/system/resources/previews/011/430/978/non_2x/sales-pitch-data-visualization-element-marketing-chart-research-data-business-statistics-financial-report-company-performance-analysis-concept-flat-modern-illustration-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56" y="1037386"/>
            <a:ext cx="6338986" cy="42259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096000" y="2650098"/>
            <a:ext cx="5675939" cy="676532"/>
          </a:xfrm>
          <a:prstGeom prst="rect">
            <a:avLst/>
          </a:prstGeom>
          <a:noFill/>
        </p:spPr>
        <p:txBody>
          <a:bodyPr wrap="square" rtlCol="0">
            <a:spAutoFit/>
          </a:bodyPr>
          <a:lstStyle/>
          <a:p>
            <a:pPr>
              <a:lnSpc>
                <a:spcPct val="150000"/>
              </a:lnSpc>
            </a:pPr>
            <a:r>
              <a:rPr lang="en-GB" sz="2800" b="1" dirty="0"/>
              <a:t>RETAIL SALES ANALYTICS</a:t>
            </a:r>
            <a:endParaRPr lang="en-IN" sz="2800" b="1" dirty="0"/>
          </a:p>
        </p:txBody>
      </p:sp>
      <p:sp>
        <p:nvSpPr>
          <p:cNvPr id="8" name="TextBox 7"/>
          <p:cNvSpPr txBox="1"/>
          <p:nvPr/>
        </p:nvSpPr>
        <p:spPr>
          <a:xfrm>
            <a:off x="6102053" y="4066133"/>
            <a:ext cx="3025437" cy="1015663"/>
          </a:xfrm>
          <a:prstGeom prst="rect">
            <a:avLst/>
          </a:prstGeom>
          <a:noFill/>
        </p:spPr>
        <p:txBody>
          <a:bodyPr wrap="square" rtlCol="0">
            <a:spAutoFit/>
          </a:bodyPr>
          <a:lstStyle/>
          <a:p>
            <a:r>
              <a:rPr lang="en-GB" sz="2000" b="1" dirty="0"/>
              <a:t>PRESENTED BY </a:t>
            </a:r>
          </a:p>
          <a:p>
            <a:endParaRPr lang="en-GB" sz="2000" b="1" dirty="0"/>
          </a:p>
          <a:p>
            <a:r>
              <a:rPr lang="en-GB" sz="2000" b="1" dirty="0"/>
              <a:t>SATHYANARRAYANAN</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5FB62-363F-E56C-41BF-915491770C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66636F-1E60-E3FB-E412-DCFE82834FB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EE08AAF-DF6D-62A3-B232-A0A0662414A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70A7607B-BD82-1EC7-042A-E398091DD4C0}"/>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PROJECT OVERVIEW</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3A58E9C-F80F-97D7-9C02-E14D4B27BEC4}"/>
              </a:ext>
            </a:extLst>
          </p:cNvPr>
          <p:cNvSpPr txBox="1"/>
          <p:nvPr/>
        </p:nvSpPr>
        <p:spPr>
          <a:xfrm>
            <a:off x="769620" y="1131828"/>
            <a:ext cx="11132948" cy="5461073"/>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b="1" dirty="0">
                <a:latin typeface="Arial" panose="020B0604020202020204" pitchFamily="34" charset="0"/>
                <a:cs typeface="Arial" panose="020B0604020202020204" pitchFamily="34" charset="0"/>
              </a:rPr>
              <a:t>1. Objective</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err="1">
                <a:latin typeface="Arial" panose="020B0604020202020204" pitchFamily="34" charset="0"/>
                <a:cs typeface="Arial" panose="020B0604020202020204" pitchFamily="34" charset="0"/>
              </a:rPr>
              <a:t>Analyze</a:t>
            </a:r>
            <a:r>
              <a:rPr lang="en-GB" sz="1600" dirty="0">
                <a:latin typeface="Arial" panose="020B0604020202020204" pitchFamily="34" charset="0"/>
                <a:cs typeface="Arial" panose="020B0604020202020204" pitchFamily="34" charset="0"/>
              </a:rPr>
              <a:t> sales performance across stores and staff to identify strengths and weaknesses.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Understand customer buying </a:t>
            </a:r>
            <a:r>
              <a:rPr lang="en-GB" sz="1600" dirty="0" err="1">
                <a:latin typeface="Arial" panose="020B0604020202020204" pitchFamily="34" charset="0"/>
                <a:cs typeface="Arial" panose="020B0604020202020204" pitchFamily="34" charset="0"/>
              </a:rPr>
              <a:t>behavior</a:t>
            </a:r>
            <a:r>
              <a:rPr lang="en-GB" sz="1600" dirty="0">
                <a:latin typeface="Arial" panose="020B0604020202020204" pitchFamily="34" charset="0"/>
                <a:cs typeface="Arial" panose="020B0604020202020204" pitchFamily="34" charset="0"/>
              </a:rPr>
              <a:t> and segment customers for targeted marketing.</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Monitor inventory levels and product performance to support stock optimization.</a:t>
            </a:r>
          </a:p>
          <a:p>
            <a:r>
              <a:rPr lang="en-GB" sz="1600" b="1" dirty="0">
                <a:latin typeface="Arial" panose="020B0604020202020204" pitchFamily="34" charset="0"/>
                <a:cs typeface="Arial" panose="020B0604020202020204" pitchFamily="34" charset="0"/>
              </a:rPr>
              <a:t>2. Business Context</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 a competitive retail market, tracking performance and understanding customers are essential for growth.</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Retailers need insights to identify high-value customers, manage inventory, and maximize ROI.</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Data-driven strategies can improve decision-making and enhance operational efficiency.</a:t>
            </a:r>
          </a:p>
          <a:p>
            <a:r>
              <a:rPr lang="en-GB" sz="1600" b="1" dirty="0">
                <a:latin typeface="Arial" panose="020B0604020202020204" pitchFamily="34" charset="0"/>
                <a:cs typeface="Arial" panose="020B0604020202020204" pitchFamily="34" charset="0"/>
              </a:rPr>
              <a:t>3. Dataset Overview</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Dataset: </a:t>
            </a:r>
            <a:r>
              <a:rPr lang="en-GB" sz="1600" i="1" dirty="0">
                <a:latin typeface="Arial" panose="020B0604020202020204" pitchFamily="34" charset="0"/>
                <a:cs typeface="Arial" panose="020B0604020202020204" pitchFamily="34" charset="0"/>
              </a:rPr>
              <a:t>Retail Sales Data</a:t>
            </a:r>
            <a:r>
              <a:rPr lang="en-GB" sz="1600" dirty="0">
                <a:latin typeface="Arial" panose="020B0604020202020204" pitchFamily="34" charset="0"/>
                <a:cs typeface="Arial" panose="020B0604020202020204" pitchFamily="34" charset="0"/>
              </a:rPr>
              <a:t> in a relational schema with tables for customers, orders, products, brands, categories, stocks, stores, and staffs.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Includes detailed transactional data, product details, brand/category info, and stock levels per store.</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Enables analysis from multiple angles - sales, inventory, customer behaviour and store performance.</a:t>
            </a:r>
          </a:p>
        </p:txBody>
      </p:sp>
      <p:pic>
        <p:nvPicPr>
          <p:cNvPr id="3" name="Picture 2" descr="Sales Performance Stock Illustrations – 17,240 Sales Performance Stock  Illustrations, Vectors &amp; Clipart - Dreamstime">
            <a:extLst>
              <a:ext uri="{FF2B5EF4-FFF2-40B4-BE49-F238E27FC236}">
                <a16:creationId xmlns:a16="http://schemas.microsoft.com/office/drawing/2014/main" id="{BC085DE6-F96A-E670-1641-13FA9D69C2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29796" y="273204"/>
            <a:ext cx="2562204" cy="2562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422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C2C6D-CAEF-0DFB-31D0-E3766EFD38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D754652-AA0D-9CD1-867E-F43A0D3E02CB}"/>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56D2A5C-7A5E-66A6-A174-50D729E14EE1}"/>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4D9700D-210C-9144-C545-78B3541B4EA3}"/>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PROJECT OVERVIEW</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70D136F-B3AB-51F1-0400-3B3B0A0CAF6C}"/>
              </a:ext>
            </a:extLst>
          </p:cNvPr>
          <p:cNvSpPr txBox="1"/>
          <p:nvPr/>
        </p:nvSpPr>
        <p:spPr>
          <a:xfrm>
            <a:off x="769620" y="1131828"/>
            <a:ext cx="11063792" cy="5461073"/>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b="1" dirty="0">
                <a:latin typeface="Arial" panose="020B0604020202020204" pitchFamily="34" charset="0"/>
                <a:cs typeface="Arial" panose="020B0604020202020204" pitchFamily="34" charset="0"/>
              </a:rPr>
              <a:t>4. Problem Statement</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Businesses lack an integrated solution to monitor sales, track customers, and manage inventory in real-time.</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Need for an end-to-end analytics pipeline that delivers actionable insights for business growth.</a:t>
            </a:r>
          </a:p>
          <a:p>
            <a:r>
              <a:rPr lang="en-GB" sz="1600" b="1" dirty="0">
                <a:latin typeface="Arial" panose="020B0604020202020204" pitchFamily="34" charset="0"/>
                <a:cs typeface="Arial" panose="020B0604020202020204" pitchFamily="34" charset="0"/>
              </a:rPr>
              <a:t>5. Proposed Solution</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Build an analytics pipeline integrating Excel (data cleaning), SQL (data storage/querying) and Power BI (dashboards).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Create interactive dashboards with sales trends, store performance, product analysis, and low-stock alerts.</a:t>
            </a:r>
          </a:p>
          <a:p>
            <a:r>
              <a:rPr lang="en-GB" sz="1600" b="1" dirty="0">
                <a:latin typeface="Arial" panose="020B0604020202020204" pitchFamily="34" charset="0"/>
                <a:cs typeface="Arial" panose="020B0604020202020204" pitchFamily="34" charset="0"/>
              </a:rPr>
              <a:t>6. Key Deliverables</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Fully cleaned and processed dataset stored in SQL for analysis.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Interactive Power BI dashboard with KPIs like brand analysis, customer analysis, sales trends, product &amp; stock analysis, store &amp; staff analysis.  </a:t>
            </a:r>
          </a:p>
          <a:p>
            <a:r>
              <a:rPr lang="en-GB" sz="1600" b="1" dirty="0">
                <a:latin typeface="Arial" panose="020B0604020202020204" pitchFamily="34" charset="0"/>
                <a:cs typeface="Arial" panose="020B0604020202020204" pitchFamily="34" charset="0"/>
              </a:rPr>
              <a:t>7. Expected Impact</a:t>
            </a:r>
            <a:endParaRPr lang="en-GB"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Improved revenue through better targeting of high-value customers.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Enhanced inventory management, reducing stockouts and overstock situations.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Data-driven decision-making leading to higher efficiency and competitive advantage.</a:t>
            </a:r>
          </a:p>
        </p:txBody>
      </p:sp>
      <p:pic>
        <p:nvPicPr>
          <p:cNvPr id="3076" name="Picture 4">
            <a:extLst>
              <a:ext uri="{FF2B5EF4-FFF2-40B4-BE49-F238E27FC236}">
                <a16:creationId xmlns:a16="http://schemas.microsoft.com/office/drawing/2014/main" id="{ED88ECFD-03E1-CCA5-2D2F-8163C1C536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59041" y="4422332"/>
            <a:ext cx="2262948" cy="2262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513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99EE1-EE28-EA68-8164-2283C16FED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E63887-944E-9F3E-8125-EFC7A574AB3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8475284-FF63-044D-63D2-58B09BE99165}"/>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11F5CB20-011B-3972-08FD-AD33589294A5}"/>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ER DIAGRAM</a:t>
            </a:r>
            <a:endParaRPr lang="en-US" sz="2400" dirty="0">
              <a:latin typeface="Arial" panose="020B0604020202020204" pitchFamily="34" charset="0"/>
              <a:cs typeface="Arial"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6AC6789D-FC04-1E9A-C19B-C63A94F91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 y="1136048"/>
            <a:ext cx="7560326" cy="5154521"/>
          </a:xfrm>
          <a:prstGeom prst="rect">
            <a:avLst/>
          </a:prstGeom>
        </p:spPr>
      </p:pic>
      <p:sp>
        <p:nvSpPr>
          <p:cNvPr id="8" name="Content Placeholder 2">
            <a:extLst>
              <a:ext uri="{FF2B5EF4-FFF2-40B4-BE49-F238E27FC236}">
                <a16:creationId xmlns:a16="http://schemas.microsoft.com/office/drawing/2014/main" id="{CD2BBEFF-BD7D-D6FA-EEE4-86E9F1D672C5}"/>
              </a:ext>
            </a:extLst>
          </p:cNvPr>
          <p:cNvSpPr txBox="1"/>
          <p:nvPr/>
        </p:nvSpPr>
        <p:spPr>
          <a:xfrm>
            <a:off x="8575381" y="1265339"/>
            <a:ext cx="3404028" cy="5461073"/>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b="1" dirty="0">
                <a:latin typeface="Arial" panose="020B0604020202020204" pitchFamily="34" charset="0"/>
                <a:cs typeface="Arial" panose="020B0604020202020204" pitchFamily="34" charset="0"/>
              </a:rPr>
              <a:t>Primary Keys (PK)</a:t>
            </a:r>
          </a:p>
          <a:p>
            <a:r>
              <a:rPr lang="en-GB" sz="1600" dirty="0">
                <a:latin typeface="Arial" panose="020B0604020202020204" pitchFamily="34" charset="0"/>
                <a:cs typeface="Arial" panose="020B0604020202020204" pitchFamily="34" charset="0"/>
              </a:rPr>
              <a:t>Orders - </a:t>
            </a:r>
            <a:r>
              <a:rPr lang="en-GB" sz="1600" dirty="0" err="1">
                <a:latin typeface="Arial" panose="020B0604020202020204" pitchFamily="34" charset="0"/>
                <a:cs typeface="Arial" panose="020B0604020202020204" pitchFamily="34" charset="0"/>
              </a:rPr>
              <a:t>order_id</a:t>
            </a:r>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Brands - </a:t>
            </a:r>
            <a:r>
              <a:rPr lang="en-GB" sz="1600" dirty="0" err="1">
                <a:latin typeface="Arial" panose="020B0604020202020204" pitchFamily="34" charset="0"/>
                <a:cs typeface="Arial" panose="020B0604020202020204" pitchFamily="34" charset="0"/>
              </a:rPr>
              <a:t>brand_id</a:t>
            </a:r>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Categories - </a:t>
            </a:r>
            <a:r>
              <a:rPr lang="en-GB" sz="1600" dirty="0" err="1">
                <a:latin typeface="Arial" panose="020B0604020202020204" pitchFamily="34" charset="0"/>
                <a:cs typeface="Arial" panose="020B0604020202020204" pitchFamily="34" charset="0"/>
              </a:rPr>
              <a:t>category_id</a:t>
            </a:r>
            <a:r>
              <a:rPr lang="en-GB" sz="1600" dirty="0">
                <a:latin typeface="Arial" panose="020B0604020202020204" pitchFamily="34" charset="0"/>
                <a:cs typeface="Arial" panose="020B0604020202020204" pitchFamily="34" charset="0"/>
              </a:rPr>
              <a:t> </a:t>
            </a:r>
          </a:p>
          <a:p>
            <a:r>
              <a:rPr lang="en-GB" sz="1600" dirty="0">
                <a:latin typeface="Arial" panose="020B0604020202020204" pitchFamily="34" charset="0"/>
                <a:cs typeface="Arial" panose="020B0604020202020204" pitchFamily="34" charset="0"/>
              </a:rPr>
              <a:t>Products - </a:t>
            </a:r>
            <a:r>
              <a:rPr lang="en-GB" sz="1600" dirty="0" err="1">
                <a:latin typeface="Arial" panose="020B0604020202020204" pitchFamily="34" charset="0"/>
                <a:cs typeface="Arial" panose="020B0604020202020204" pitchFamily="34" charset="0"/>
              </a:rPr>
              <a:t>product_id</a:t>
            </a:r>
            <a:endParaRPr lang="en-GB" sz="1600" dirty="0">
              <a:latin typeface="Arial" panose="020B0604020202020204" pitchFamily="34" charset="0"/>
              <a:cs typeface="Arial" panose="020B0604020202020204" pitchFamily="34" charset="0"/>
            </a:endParaRPr>
          </a:p>
          <a:p>
            <a:r>
              <a:rPr lang="en-GB" sz="1600" dirty="0" err="1">
                <a:latin typeface="Arial" panose="020B0604020202020204" pitchFamily="34" charset="0"/>
                <a:cs typeface="Arial" panose="020B0604020202020204" pitchFamily="34" charset="0"/>
              </a:rPr>
              <a:t>Order_items</a:t>
            </a:r>
            <a:r>
              <a:rPr lang="en-GB" sz="1600" dirty="0">
                <a:latin typeface="Arial" panose="020B0604020202020204" pitchFamily="34" charset="0"/>
                <a:cs typeface="Arial" panose="020B0604020202020204" pitchFamily="34" charset="0"/>
              </a:rPr>
              <a:t> - </a:t>
            </a:r>
            <a:r>
              <a:rPr lang="en-GB" sz="1600" dirty="0" err="1">
                <a:latin typeface="Arial" panose="020B0604020202020204" pitchFamily="34" charset="0"/>
                <a:cs typeface="Arial" panose="020B0604020202020204" pitchFamily="34" charset="0"/>
              </a:rPr>
              <a:t>order_id</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item_id</a:t>
            </a:r>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Staffs - </a:t>
            </a:r>
            <a:r>
              <a:rPr lang="en-GB" sz="1600" dirty="0" err="1">
                <a:latin typeface="Arial" panose="020B0604020202020204" pitchFamily="34" charset="0"/>
                <a:cs typeface="Arial" panose="020B0604020202020204" pitchFamily="34" charset="0"/>
              </a:rPr>
              <a:t>staff_id</a:t>
            </a:r>
            <a:r>
              <a:rPr lang="en-GB" sz="1600" dirty="0">
                <a:latin typeface="Arial" panose="020B0604020202020204" pitchFamily="34" charset="0"/>
                <a:cs typeface="Arial" panose="020B0604020202020204" pitchFamily="34" charset="0"/>
              </a:rPr>
              <a:t> </a:t>
            </a:r>
          </a:p>
          <a:p>
            <a:r>
              <a:rPr lang="en-GB" sz="1600" dirty="0">
                <a:latin typeface="Arial" panose="020B0604020202020204" pitchFamily="34" charset="0"/>
                <a:cs typeface="Arial" panose="020B0604020202020204" pitchFamily="34" charset="0"/>
              </a:rPr>
              <a:t>Stores - </a:t>
            </a:r>
            <a:r>
              <a:rPr lang="en-GB" sz="1600" dirty="0" err="1">
                <a:latin typeface="Arial" panose="020B0604020202020204" pitchFamily="34" charset="0"/>
                <a:cs typeface="Arial" panose="020B0604020202020204" pitchFamily="34" charset="0"/>
              </a:rPr>
              <a:t>store_id</a:t>
            </a:r>
            <a:r>
              <a:rPr lang="en-GB" sz="1600" dirty="0">
                <a:latin typeface="Arial" panose="020B0604020202020204" pitchFamily="34" charset="0"/>
                <a:cs typeface="Arial" panose="020B0604020202020204" pitchFamily="34" charset="0"/>
              </a:rPr>
              <a:t> </a:t>
            </a:r>
          </a:p>
          <a:p>
            <a:r>
              <a:rPr lang="en-GB" sz="1600" dirty="0">
                <a:latin typeface="Arial" panose="020B0604020202020204" pitchFamily="34" charset="0"/>
                <a:cs typeface="Arial" panose="020B0604020202020204" pitchFamily="34" charset="0"/>
              </a:rPr>
              <a:t>Customers - </a:t>
            </a:r>
            <a:r>
              <a:rPr lang="en-GB" sz="1600" dirty="0" err="1">
                <a:latin typeface="Arial" panose="020B0604020202020204" pitchFamily="34" charset="0"/>
                <a:cs typeface="Arial" panose="020B0604020202020204" pitchFamily="34" charset="0"/>
              </a:rPr>
              <a:t>customer_id</a:t>
            </a: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073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D854-23BB-E822-3D6A-6E461935F6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7B0633-3F02-1BE6-0A9D-C978D8B487B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C9AF968-F922-130A-DCE8-B64256315EE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E915F13B-0C14-943C-039F-77FCF63ACF36}"/>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ANALYSIS</a:t>
            </a:r>
            <a:endParaRPr lang="en-US" sz="2400" dirty="0">
              <a:latin typeface="Arial" panose="020B0604020202020204" pitchFamily="34" charset="0"/>
              <a:cs typeface="Arial" panose="020B06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8B3D17CF-56A5-9D98-D966-D1EAE4A2D7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75" y="1092023"/>
            <a:ext cx="5425833" cy="2978452"/>
          </a:xfrm>
          <a:prstGeom prst="rect">
            <a:avLst/>
          </a:prstGeom>
        </p:spPr>
      </p:pic>
      <p:sp>
        <p:nvSpPr>
          <p:cNvPr id="9" name="Content Placeholder 2">
            <a:extLst>
              <a:ext uri="{FF2B5EF4-FFF2-40B4-BE49-F238E27FC236}">
                <a16:creationId xmlns:a16="http://schemas.microsoft.com/office/drawing/2014/main" id="{3385AC6B-B632-A434-973B-E87F73E57A08}"/>
              </a:ext>
            </a:extLst>
          </p:cNvPr>
          <p:cNvSpPr txBox="1"/>
          <p:nvPr/>
        </p:nvSpPr>
        <p:spPr>
          <a:xfrm>
            <a:off x="758390" y="4287691"/>
            <a:ext cx="10663990" cy="232826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dirty="0">
                <a:latin typeface="Arial" panose="020B0604020202020204" pitchFamily="34" charset="0"/>
                <a:cs typeface="Arial" panose="020B0604020202020204" pitchFamily="34" charset="0"/>
              </a:rPr>
              <a:t>Process:</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Joined orders, </a:t>
            </a:r>
            <a:r>
              <a:rPr lang="en-GB" sz="1600" dirty="0" err="1">
                <a:latin typeface="Arial" panose="020B0604020202020204" pitchFamily="34" charset="0"/>
                <a:cs typeface="Arial" panose="020B0604020202020204" pitchFamily="34" charset="0"/>
              </a:rPr>
              <a:t>order_items</a:t>
            </a:r>
            <a:r>
              <a:rPr lang="en-GB" sz="1600" dirty="0">
                <a:latin typeface="Arial" panose="020B0604020202020204" pitchFamily="34" charset="0"/>
                <a:cs typeface="Arial" panose="020B0604020202020204" pitchFamily="34" charset="0"/>
              </a:rPr>
              <a:t>, and products tables to generate a detailed report with order information, total price and product names.</a:t>
            </a:r>
          </a:p>
          <a:p>
            <a:r>
              <a:rPr lang="en-GB" sz="1600" dirty="0">
                <a:latin typeface="Arial" panose="020B0604020202020204" pitchFamily="34" charset="0"/>
                <a:cs typeface="Arial" panose="020B0604020202020204" pitchFamily="34" charset="0"/>
              </a:rPr>
              <a:t>Output:</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Exported to Excel as a structured dataset showing quantities, prices, discounts, and product details, sorted by order and item IDs.</a:t>
            </a:r>
          </a:p>
        </p:txBody>
      </p:sp>
    </p:spTree>
    <p:extLst>
      <p:ext uri="{BB962C8B-B14F-4D97-AF65-F5344CB8AC3E}">
        <p14:creationId xmlns:p14="http://schemas.microsoft.com/office/powerpoint/2010/main" val="314726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43EE-7F59-834F-2D2B-91B9328A20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8AFE94-2272-E8F2-FB8C-DBE6FC5052F4}"/>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86E3126-41BD-C4B0-138B-96F94A3D00FC}"/>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591991C-67C7-79ED-8810-5816EAB978CF}"/>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ANALYSIS</a:t>
            </a:r>
            <a:endParaRPr lang="en-US" sz="2400" dirty="0">
              <a:latin typeface="Arial" panose="020B0604020202020204" pitchFamily="34" charset="0"/>
              <a:cs typeface="Arial" panose="020B0604020202020204" pitchFamily="34" charset="0"/>
            </a:endParaRPr>
          </a:p>
        </p:txBody>
      </p:sp>
      <p:pic>
        <p:nvPicPr>
          <p:cNvPr id="10" name="Picture 9" descr="A screenshot of a computer&#10;&#10;AI-generated content may be incorrect.">
            <a:extLst>
              <a:ext uri="{FF2B5EF4-FFF2-40B4-BE49-F238E27FC236}">
                <a16:creationId xmlns:a16="http://schemas.microsoft.com/office/drawing/2014/main" id="{BE0BFC30-490D-3787-FE86-5151438B6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561" y="1097538"/>
            <a:ext cx="5268824" cy="2912005"/>
          </a:xfrm>
          <a:prstGeom prst="rect">
            <a:avLst/>
          </a:prstGeom>
        </p:spPr>
      </p:pic>
      <p:sp>
        <p:nvSpPr>
          <p:cNvPr id="13" name="Content Placeholder 2">
            <a:extLst>
              <a:ext uri="{FF2B5EF4-FFF2-40B4-BE49-F238E27FC236}">
                <a16:creationId xmlns:a16="http://schemas.microsoft.com/office/drawing/2014/main" id="{1526597A-D059-4F45-27A0-C0B367CA66FE}"/>
              </a:ext>
            </a:extLst>
          </p:cNvPr>
          <p:cNvSpPr txBox="1"/>
          <p:nvPr/>
        </p:nvSpPr>
        <p:spPr>
          <a:xfrm>
            <a:off x="758390" y="4287691"/>
            <a:ext cx="10663990" cy="232826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dirty="0">
                <a:latin typeface="Arial" panose="020B0604020202020204" pitchFamily="34" charset="0"/>
                <a:cs typeface="Arial" panose="020B0604020202020204" pitchFamily="34" charset="0"/>
              </a:rPr>
              <a:t>Process:</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Calculated total sales per store by summing </a:t>
            </a:r>
            <a:r>
              <a:rPr lang="en-GB" sz="1600" dirty="0" err="1">
                <a:latin typeface="Arial" panose="020B0604020202020204" pitchFamily="34" charset="0"/>
                <a:cs typeface="Arial" panose="020B0604020202020204" pitchFamily="34" charset="0"/>
              </a:rPr>
              <a:t>total_price</a:t>
            </a:r>
            <a:r>
              <a:rPr lang="en-GB" sz="1600" dirty="0">
                <a:latin typeface="Arial" panose="020B0604020202020204" pitchFamily="34" charset="0"/>
                <a:cs typeface="Arial" panose="020B0604020202020204" pitchFamily="34" charset="0"/>
              </a:rPr>
              <a:t> from </a:t>
            </a:r>
            <a:r>
              <a:rPr lang="en-GB" sz="1600" dirty="0" err="1">
                <a:latin typeface="Arial" panose="020B0604020202020204" pitchFamily="34" charset="0"/>
                <a:cs typeface="Arial" panose="020B0604020202020204" pitchFamily="34" charset="0"/>
              </a:rPr>
              <a:t>order_items</a:t>
            </a:r>
            <a:r>
              <a:rPr lang="en-GB" sz="1600" dirty="0">
                <a:latin typeface="Arial" panose="020B0604020202020204" pitchFamily="34" charset="0"/>
                <a:cs typeface="Arial" panose="020B0604020202020204" pitchFamily="34" charset="0"/>
              </a:rPr>
              <a:t>, joined with orders for store references and stores for names, grouped by store.</a:t>
            </a:r>
          </a:p>
          <a:p>
            <a:r>
              <a:rPr lang="en-GB" sz="1600" dirty="0">
                <a:latin typeface="Arial" panose="020B0604020202020204" pitchFamily="34" charset="0"/>
                <a:cs typeface="Arial" panose="020B0604020202020204" pitchFamily="34" charset="0"/>
              </a:rPr>
              <a:t>Output:</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Exported to Excel showing store IDs, names, and total sales in descending order.</a:t>
            </a:r>
          </a:p>
        </p:txBody>
      </p:sp>
    </p:spTree>
    <p:extLst>
      <p:ext uri="{BB962C8B-B14F-4D97-AF65-F5344CB8AC3E}">
        <p14:creationId xmlns:p14="http://schemas.microsoft.com/office/powerpoint/2010/main" val="213552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A3F23-557B-D6C8-C72A-1CAA1E0689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F8854C-8FD3-7EC5-52A6-C83BBCD2085C}"/>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21B5F74-BC52-68B2-FE83-D758D26A753B}"/>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76FC0481-63F2-5FB4-50D5-F8A4AE94B409}"/>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A524800F-476E-9B03-4836-2D022702C265}"/>
              </a:ext>
            </a:extLst>
          </p:cNvPr>
          <p:cNvSpPr txBox="1"/>
          <p:nvPr/>
        </p:nvSpPr>
        <p:spPr>
          <a:xfrm>
            <a:off x="758390" y="4287691"/>
            <a:ext cx="11113442" cy="232826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dirty="0">
                <a:latin typeface="Arial" panose="020B0604020202020204" pitchFamily="34" charset="0"/>
                <a:cs typeface="Arial" panose="020B0604020202020204" pitchFamily="34" charset="0"/>
              </a:rPr>
              <a:t>Process:</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Segmented customers into spending brackets (low, medium, high) by aggregating their total purchases from </a:t>
            </a:r>
            <a:r>
              <a:rPr lang="en-GB" sz="1600" dirty="0" err="1">
                <a:latin typeface="Arial" panose="020B0604020202020204" pitchFamily="34" charset="0"/>
                <a:cs typeface="Arial" panose="020B0604020202020204" pitchFamily="34" charset="0"/>
              </a:rPr>
              <a:t>order_items</a:t>
            </a:r>
            <a:r>
              <a:rPr lang="en-GB" sz="1600" dirty="0">
                <a:latin typeface="Arial" panose="020B0604020202020204" pitchFamily="34" charset="0"/>
                <a:cs typeface="Arial" panose="020B0604020202020204" pitchFamily="34" charset="0"/>
              </a:rPr>
              <a:t>, joined with orders and customers.</a:t>
            </a:r>
          </a:p>
          <a:p>
            <a:r>
              <a:rPr lang="en-GB" sz="1600" dirty="0">
                <a:latin typeface="Arial" panose="020B0604020202020204" pitchFamily="34" charset="0"/>
                <a:cs typeface="Arial" panose="020B0604020202020204" pitchFamily="34" charset="0"/>
              </a:rPr>
              <a:t>Output:</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Exported to Excel showing customer names, total spending, and assigned brackets, sorted by highest spenders first.</a:t>
            </a:r>
          </a:p>
        </p:txBody>
      </p:sp>
      <p:pic>
        <p:nvPicPr>
          <p:cNvPr id="3" name="Picture 2" descr="A screenshot of a computer&#10;&#10;AI-generated content may be incorrect.">
            <a:extLst>
              <a:ext uri="{FF2B5EF4-FFF2-40B4-BE49-F238E27FC236}">
                <a16:creationId xmlns:a16="http://schemas.microsoft.com/office/drawing/2014/main" id="{4010AB64-21A5-E66B-EFE9-A2C4CE9459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620" y="1053308"/>
            <a:ext cx="4063637" cy="2843148"/>
          </a:xfrm>
          <a:prstGeom prst="rect">
            <a:avLst/>
          </a:prstGeom>
        </p:spPr>
      </p:pic>
    </p:spTree>
    <p:extLst>
      <p:ext uri="{BB962C8B-B14F-4D97-AF65-F5344CB8AC3E}">
        <p14:creationId xmlns:p14="http://schemas.microsoft.com/office/powerpoint/2010/main" val="3852241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04E32-A046-6E96-AF41-BF97DDA27E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F77A9D-B153-A1C6-C0BF-93FEB9E0C52D}"/>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D3D836A-51C2-2493-95E5-F19468EA9C4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D73CB87E-A697-FF87-6257-39EE85A22C80}"/>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51EA9E72-EFD5-752B-6DD1-EEF7E6935D7A}"/>
              </a:ext>
            </a:extLst>
          </p:cNvPr>
          <p:cNvSpPr txBox="1"/>
          <p:nvPr/>
        </p:nvSpPr>
        <p:spPr>
          <a:xfrm>
            <a:off x="758390" y="4287691"/>
            <a:ext cx="10663990" cy="232826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dirty="0">
                <a:latin typeface="Arial" panose="020B0604020202020204" pitchFamily="34" charset="0"/>
                <a:cs typeface="Arial" panose="020B0604020202020204" pitchFamily="34" charset="0"/>
              </a:rPr>
              <a:t>Process:</a:t>
            </a:r>
            <a:br>
              <a:rPr lang="en-GB" sz="1600" dirty="0">
                <a:latin typeface="Arial" panose="020B0604020202020204" pitchFamily="34" charset="0"/>
                <a:cs typeface="Arial" panose="020B0604020202020204" pitchFamily="34" charset="0"/>
              </a:rPr>
            </a:br>
            <a:r>
              <a:rPr lang="en-GB" sz="1600" dirty="0" err="1">
                <a:latin typeface="Arial" panose="020B0604020202020204" pitchFamily="34" charset="0"/>
                <a:cs typeface="Arial" panose="020B0604020202020204" pitchFamily="34" charset="0"/>
              </a:rPr>
              <a:t>Analyzed</a:t>
            </a:r>
            <a:r>
              <a:rPr lang="en-GB" sz="1600" dirty="0">
                <a:latin typeface="Arial" panose="020B0604020202020204" pitchFamily="34" charset="0"/>
                <a:cs typeface="Arial" panose="020B0604020202020204" pitchFamily="34" charset="0"/>
              </a:rPr>
              <a:t> customer distribution and sales performance by geographic location by joining customers, orders, and </a:t>
            </a:r>
            <a:r>
              <a:rPr lang="en-GB" sz="1600" dirty="0" err="1">
                <a:latin typeface="Arial" panose="020B0604020202020204" pitchFamily="34" charset="0"/>
                <a:cs typeface="Arial" panose="020B0604020202020204" pitchFamily="34" charset="0"/>
              </a:rPr>
              <a:t>order_items</a:t>
            </a:r>
            <a:r>
              <a:rPr lang="en-GB" sz="1600" dirty="0">
                <a:latin typeface="Arial" panose="020B0604020202020204" pitchFamily="34" charset="0"/>
                <a:cs typeface="Arial" panose="020B0604020202020204" pitchFamily="34" charset="0"/>
              </a:rPr>
              <a:t> tables. </a:t>
            </a:r>
          </a:p>
          <a:p>
            <a:r>
              <a:rPr lang="en-GB" sz="1600" dirty="0">
                <a:latin typeface="Arial" panose="020B0604020202020204" pitchFamily="34" charset="0"/>
                <a:cs typeface="Arial" panose="020B0604020202020204" pitchFamily="34" charset="0"/>
              </a:rPr>
              <a:t>Output:</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Exported to Excel showing top-performing locations, with New York (Mount Vernon) leading at $115,865 sales from 20 customers.</a:t>
            </a:r>
          </a:p>
        </p:txBody>
      </p:sp>
      <p:pic>
        <p:nvPicPr>
          <p:cNvPr id="3" name="Picture 2" descr="A screenshot of a computer&#10;&#10;AI-generated content may be incorrect.">
            <a:extLst>
              <a:ext uri="{FF2B5EF4-FFF2-40B4-BE49-F238E27FC236}">
                <a16:creationId xmlns:a16="http://schemas.microsoft.com/office/drawing/2014/main" id="{F20B7F18-3C10-FB57-21BB-D467EFA9A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1" y="1053307"/>
            <a:ext cx="3779328" cy="3147319"/>
          </a:xfrm>
          <a:prstGeom prst="rect">
            <a:avLst/>
          </a:prstGeom>
        </p:spPr>
      </p:pic>
    </p:spTree>
    <p:extLst>
      <p:ext uri="{BB962C8B-B14F-4D97-AF65-F5344CB8AC3E}">
        <p14:creationId xmlns:p14="http://schemas.microsoft.com/office/powerpoint/2010/main" val="202142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E062E-A975-2C8A-02CB-5B4A773A46C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E9D3E4-016E-5646-FF6F-81CE5B420B0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24D03BF-1CC9-2C6C-8445-3D5D5855F91C}"/>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953D0C1F-EB24-4601-D208-BFB115622941}"/>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SQL - ANALYSIS</a:t>
            </a:r>
            <a:endParaRPr lang="en-US" sz="2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EB105166-D63A-B3BA-D989-0E00DB772B30}"/>
              </a:ext>
            </a:extLst>
          </p:cNvPr>
          <p:cNvSpPr txBox="1"/>
          <p:nvPr/>
        </p:nvSpPr>
        <p:spPr>
          <a:xfrm>
            <a:off x="758390" y="4287691"/>
            <a:ext cx="10663990" cy="2328262"/>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GB" sz="1600" dirty="0">
                <a:latin typeface="Arial" panose="020B0604020202020204" pitchFamily="34" charset="0"/>
                <a:cs typeface="Arial" panose="020B0604020202020204" pitchFamily="34" charset="0"/>
              </a:rPr>
              <a:t>Process:</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Identified low-stock products (quantity &lt; 10) by joining stocks and products tables, sorted by remaining quantity.</a:t>
            </a:r>
          </a:p>
          <a:p>
            <a:r>
              <a:rPr lang="en-GB" sz="1600" dirty="0">
                <a:latin typeface="Arial" panose="020B0604020202020204" pitchFamily="34" charset="0"/>
                <a:cs typeface="Arial" panose="020B0604020202020204" pitchFamily="34" charset="0"/>
              </a:rPr>
              <a:t>Output:</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Exported to Excel listing store IDs, product details, and stock levels for replenishment alerts.</a:t>
            </a:r>
          </a:p>
        </p:txBody>
      </p:sp>
      <p:pic>
        <p:nvPicPr>
          <p:cNvPr id="3" name="Picture 2" descr="A screenshot of a computer&#10;&#10;AI-generated content may be incorrect.">
            <a:extLst>
              <a:ext uri="{FF2B5EF4-FFF2-40B4-BE49-F238E27FC236}">
                <a16:creationId xmlns:a16="http://schemas.microsoft.com/office/drawing/2014/main" id="{E0FB2FD2-5BE8-CB4B-E49D-02E985EC3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 y="1110420"/>
            <a:ext cx="5326380" cy="2828843"/>
          </a:xfrm>
          <a:prstGeom prst="rect">
            <a:avLst/>
          </a:prstGeom>
        </p:spPr>
      </p:pic>
    </p:spTree>
    <p:extLst>
      <p:ext uri="{BB962C8B-B14F-4D97-AF65-F5344CB8AC3E}">
        <p14:creationId xmlns:p14="http://schemas.microsoft.com/office/powerpoint/2010/main" val="153089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AF9B0-CDC9-ECFA-CFAB-D02BF58CD1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86CD92-69D9-838F-F960-8A41FCB3EB8E}"/>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C779608-04EE-868E-229E-5D4F4ED0E58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E560168-4DFF-F936-58FC-B845EA61EB3F}"/>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CUSTOMER ANALYSIS</a:t>
            </a:r>
            <a:endParaRPr lang="en-US" sz="2400"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B9E1D726-3705-C38F-22C8-468121D23EC9}"/>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 chart displays customer distribution by state, with New York (70.52%) as the largest market, followed by California (19.65%) and Texas (9.83%).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It also shows purchase frequency, revealing 1,314 one-time buyers, 92 repeat buyers (twice), and 39 frequent buyers (thrice).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 chart highlights New York dominance and low repeat purchase rates.</a:t>
            </a:r>
          </a:p>
        </p:txBody>
      </p:sp>
      <p:pic>
        <p:nvPicPr>
          <p:cNvPr id="3" name="Picture 2">
            <a:extLst>
              <a:ext uri="{FF2B5EF4-FFF2-40B4-BE49-F238E27FC236}">
                <a16:creationId xmlns:a16="http://schemas.microsoft.com/office/drawing/2014/main" id="{07EB386C-50F5-10B8-E5DD-224BC23E340D}"/>
              </a:ext>
            </a:extLst>
          </p:cNvPr>
          <p:cNvPicPr>
            <a:picLocks noChangeAspect="1"/>
          </p:cNvPicPr>
          <p:nvPr/>
        </p:nvPicPr>
        <p:blipFill>
          <a:blip r:embed="rId2"/>
          <a:srcRect l="750"/>
          <a:stretch>
            <a:fillRect/>
          </a:stretch>
        </p:blipFill>
        <p:spPr>
          <a:xfrm>
            <a:off x="883920" y="1053307"/>
            <a:ext cx="4957162" cy="2603731"/>
          </a:xfrm>
          <a:prstGeom prst="rect">
            <a:avLst/>
          </a:prstGeom>
        </p:spPr>
      </p:pic>
      <p:pic>
        <p:nvPicPr>
          <p:cNvPr id="10" name="Picture 9">
            <a:extLst>
              <a:ext uri="{FF2B5EF4-FFF2-40B4-BE49-F238E27FC236}">
                <a16:creationId xmlns:a16="http://schemas.microsoft.com/office/drawing/2014/main" id="{B9DD4511-064C-1DAE-5552-9792BF7CDADC}"/>
              </a:ext>
            </a:extLst>
          </p:cNvPr>
          <p:cNvPicPr>
            <a:picLocks noChangeAspect="1"/>
          </p:cNvPicPr>
          <p:nvPr/>
        </p:nvPicPr>
        <p:blipFill>
          <a:blip r:embed="rId3"/>
          <a:stretch>
            <a:fillRect/>
          </a:stretch>
        </p:blipFill>
        <p:spPr>
          <a:xfrm>
            <a:off x="6672319" y="1053307"/>
            <a:ext cx="4994622" cy="2778164"/>
          </a:xfrm>
          <a:prstGeom prst="rect">
            <a:avLst/>
          </a:prstGeom>
        </p:spPr>
      </p:pic>
    </p:spTree>
    <p:extLst>
      <p:ext uri="{BB962C8B-B14F-4D97-AF65-F5344CB8AC3E}">
        <p14:creationId xmlns:p14="http://schemas.microsoft.com/office/powerpoint/2010/main" val="3633737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70D6-D038-4B11-B82D-808FFE66C7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610F9D-2F31-AB37-F45C-B032CA58773E}"/>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579F1FE-C9B6-E61E-B8B6-16E684C5CEE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BCAD3F87-9218-27FE-EC64-DA28CCD53503}"/>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CUSTOMER ANALYSIS</a:t>
            </a:r>
            <a:endParaRPr lang="en-US" sz="2400"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12EFCE4B-22B5-0DA1-E465-3A79D1879497}"/>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Top 5 Customers by Purchase Amount, led by Sharyn ($41,306.57), followed by Ashanti, Pamelia, Abby, and Genoveva.</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Mobile Number Availability, showing only 12.32% (178 customers) have numbers available, while 87.68% (1,267) are missing this data.</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chart highlights High-value customers are identified, but contact information is largely unavailable for most.</a:t>
            </a:r>
          </a:p>
        </p:txBody>
      </p:sp>
      <p:pic>
        <p:nvPicPr>
          <p:cNvPr id="11" name="Picture 10">
            <a:extLst>
              <a:ext uri="{FF2B5EF4-FFF2-40B4-BE49-F238E27FC236}">
                <a16:creationId xmlns:a16="http://schemas.microsoft.com/office/drawing/2014/main" id="{5FA1A3F1-782A-379B-D4AC-61FA39899563}"/>
              </a:ext>
            </a:extLst>
          </p:cNvPr>
          <p:cNvPicPr>
            <a:picLocks noChangeAspect="1"/>
          </p:cNvPicPr>
          <p:nvPr/>
        </p:nvPicPr>
        <p:blipFill>
          <a:blip r:embed="rId2"/>
          <a:stretch>
            <a:fillRect/>
          </a:stretch>
        </p:blipFill>
        <p:spPr>
          <a:xfrm>
            <a:off x="6442028" y="1053307"/>
            <a:ext cx="5149704" cy="2727188"/>
          </a:xfrm>
          <a:prstGeom prst="rect">
            <a:avLst/>
          </a:prstGeom>
        </p:spPr>
      </p:pic>
      <p:pic>
        <p:nvPicPr>
          <p:cNvPr id="13" name="Picture 12">
            <a:extLst>
              <a:ext uri="{FF2B5EF4-FFF2-40B4-BE49-F238E27FC236}">
                <a16:creationId xmlns:a16="http://schemas.microsoft.com/office/drawing/2014/main" id="{03922166-B48E-B4C1-B900-4FF61CA657C2}"/>
              </a:ext>
            </a:extLst>
          </p:cNvPr>
          <p:cNvPicPr>
            <a:picLocks noChangeAspect="1"/>
          </p:cNvPicPr>
          <p:nvPr/>
        </p:nvPicPr>
        <p:blipFill>
          <a:blip r:embed="rId3"/>
          <a:stretch>
            <a:fillRect/>
          </a:stretch>
        </p:blipFill>
        <p:spPr>
          <a:xfrm>
            <a:off x="844924" y="1026885"/>
            <a:ext cx="5317671" cy="2804002"/>
          </a:xfrm>
          <a:prstGeom prst="rect">
            <a:avLst/>
          </a:prstGeom>
        </p:spPr>
      </p:pic>
    </p:spTree>
    <p:extLst>
      <p:ext uri="{BB962C8B-B14F-4D97-AF65-F5344CB8AC3E}">
        <p14:creationId xmlns:p14="http://schemas.microsoft.com/office/powerpoint/2010/main" val="756067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B8BB-725E-14F8-2161-BE7F4E71EF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F6D437-A73B-53DC-5540-CE123979D91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577B292-DD7D-DF29-8A5A-D55D4EEB4FE5}"/>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80636B11-5D9C-2201-F7C3-729B03866D8E}"/>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SALES ANALYSIS</a:t>
            </a:r>
            <a:endParaRPr lang="en-US"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F6E847D-5D0E-F4D1-AAAB-B9A806AF04B7}"/>
              </a:ext>
            </a:extLst>
          </p:cNvPr>
          <p:cNvPicPr>
            <a:picLocks noChangeAspect="1"/>
          </p:cNvPicPr>
          <p:nvPr/>
        </p:nvPicPr>
        <p:blipFill>
          <a:blip r:embed="rId2"/>
          <a:stretch>
            <a:fillRect/>
          </a:stretch>
        </p:blipFill>
        <p:spPr>
          <a:xfrm>
            <a:off x="831633" y="1053307"/>
            <a:ext cx="10738764" cy="2727188"/>
          </a:xfrm>
          <a:prstGeom prst="rect">
            <a:avLst/>
          </a:prstGeom>
        </p:spPr>
      </p:pic>
      <p:sp>
        <p:nvSpPr>
          <p:cNvPr id="2" name="Content Placeholder 2">
            <a:extLst>
              <a:ext uri="{FF2B5EF4-FFF2-40B4-BE49-F238E27FC236}">
                <a16:creationId xmlns:a16="http://schemas.microsoft.com/office/drawing/2014/main" id="{E1A6520E-B3DD-10B5-A207-C8FCE1384B97}"/>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chart tracks overall sales performance from Jan 2016 to late 2018, showing steady fluctuations in the $200K–$420K range for most of the period.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Notable growth occurs in early 2017 and early 2018, culminating in a dramatic peak of $900.05K. This spike is followed by a sharp collapse to almost zero sales by mid-2018, with minimal recovery afterward.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trend suggests a possible one-time event or campaign drove the peak, after which sales activity significantly declined.</a:t>
            </a:r>
          </a:p>
        </p:txBody>
      </p:sp>
    </p:spTree>
    <p:extLst>
      <p:ext uri="{BB962C8B-B14F-4D97-AF65-F5344CB8AC3E}">
        <p14:creationId xmlns:p14="http://schemas.microsoft.com/office/powerpoint/2010/main" val="934086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50F8-F9DE-E0A9-96CD-45D5AC63DC3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572EF1-3E0B-28CA-CCD6-4A308E3F05A4}"/>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F9BD21D-238C-D980-BBDB-A6C25E37D07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87EA9DA1-240A-0442-4495-F2A8F97ACE9B}"/>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SALES ANALYSIS</a:t>
            </a:r>
            <a:endParaRPr lang="en-US" sz="2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7E7DACC-B763-0AA3-FAD3-656B3807BBAD}"/>
              </a:ext>
            </a:extLst>
          </p:cNvPr>
          <p:cNvPicPr>
            <a:picLocks noChangeAspect="1"/>
          </p:cNvPicPr>
          <p:nvPr/>
        </p:nvPicPr>
        <p:blipFill>
          <a:blip r:embed="rId2"/>
          <a:stretch>
            <a:fillRect/>
          </a:stretch>
        </p:blipFill>
        <p:spPr>
          <a:xfrm>
            <a:off x="831633" y="1053307"/>
            <a:ext cx="5264367" cy="2782594"/>
          </a:xfrm>
          <a:prstGeom prst="rect">
            <a:avLst/>
          </a:prstGeom>
        </p:spPr>
      </p:pic>
      <p:pic>
        <p:nvPicPr>
          <p:cNvPr id="10" name="Picture 9">
            <a:extLst>
              <a:ext uri="{FF2B5EF4-FFF2-40B4-BE49-F238E27FC236}">
                <a16:creationId xmlns:a16="http://schemas.microsoft.com/office/drawing/2014/main" id="{FC159A32-D4D7-0979-6DBA-B804F2133E55}"/>
              </a:ext>
            </a:extLst>
          </p:cNvPr>
          <p:cNvPicPr>
            <a:picLocks noChangeAspect="1"/>
          </p:cNvPicPr>
          <p:nvPr/>
        </p:nvPicPr>
        <p:blipFill>
          <a:blip r:embed="rId3"/>
          <a:stretch>
            <a:fillRect/>
          </a:stretch>
        </p:blipFill>
        <p:spPr>
          <a:xfrm>
            <a:off x="6513807" y="1053307"/>
            <a:ext cx="5044479" cy="2604293"/>
          </a:xfrm>
          <a:prstGeom prst="rect">
            <a:avLst/>
          </a:prstGeom>
        </p:spPr>
      </p:pic>
      <p:sp>
        <p:nvSpPr>
          <p:cNvPr id="2" name="Content Placeholder 2">
            <a:extLst>
              <a:ext uri="{FF2B5EF4-FFF2-40B4-BE49-F238E27FC236}">
                <a16:creationId xmlns:a16="http://schemas.microsoft.com/office/drawing/2014/main" id="{3B0F0469-0D07-2D5F-6DE9-6029510028EA}"/>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quarterly sales chart shows Q1 leading with $2.66M, closely followed by Q2 at $2.50M, while Q3 ($1.70M) and Q4 ($1.62M) lag behind.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Monthly sales distribution is heavily skewed, with one month (unlabelled in the pie but dominating) contributing 63.45% of total sales, suggesting a seasonal or event-driven spike.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January accounts for 16.12%, indicating a strong start to the year. Other months contribute marginally, with several under 6%, highlighting significant sales concentration in specific periods.</a:t>
            </a:r>
          </a:p>
        </p:txBody>
      </p:sp>
    </p:spTree>
    <p:extLst>
      <p:ext uri="{BB962C8B-B14F-4D97-AF65-F5344CB8AC3E}">
        <p14:creationId xmlns:p14="http://schemas.microsoft.com/office/powerpoint/2010/main" val="2972146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486A-6CA8-7F84-27F0-D8FC58FB0B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75B42B-BE66-ADE4-403E-9BE8B8A4939A}"/>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4DE37D-4C13-2A76-9F31-E6856D824D48}"/>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58AABCB4-07FB-D5BA-ACD4-D93F3A8C667C}"/>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PRODUCT &amp; STOCK ANALYSIS</a:t>
            </a:r>
            <a:endParaRPr lang="en-US"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965EAF0-18D8-81DD-040C-D04DEE070F85}"/>
              </a:ext>
            </a:extLst>
          </p:cNvPr>
          <p:cNvPicPr>
            <a:picLocks noChangeAspect="1"/>
          </p:cNvPicPr>
          <p:nvPr/>
        </p:nvPicPr>
        <p:blipFill>
          <a:blip r:embed="rId2"/>
          <a:stretch>
            <a:fillRect/>
          </a:stretch>
        </p:blipFill>
        <p:spPr>
          <a:xfrm>
            <a:off x="889254" y="1053307"/>
            <a:ext cx="4212944" cy="2829907"/>
          </a:xfrm>
          <a:prstGeom prst="rect">
            <a:avLst/>
          </a:prstGeom>
        </p:spPr>
      </p:pic>
      <p:pic>
        <p:nvPicPr>
          <p:cNvPr id="11" name="Picture 10">
            <a:extLst>
              <a:ext uri="{FF2B5EF4-FFF2-40B4-BE49-F238E27FC236}">
                <a16:creationId xmlns:a16="http://schemas.microsoft.com/office/drawing/2014/main" id="{00FC528D-BC2E-A239-8730-DE3EA2BCAF21}"/>
              </a:ext>
            </a:extLst>
          </p:cNvPr>
          <p:cNvPicPr>
            <a:picLocks noChangeAspect="1"/>
          </p:cNvPicPr>
          <p:nvPr/>
        </p:nvPicPr>
        <p:blipFill>
          <a:blip r:embed="rId3"/>
          <a:stretch>
            <a:fillRect/>
          </a:stretch>
        </p:blipFill>
        <p:spPr>
          <a:xfrm>
            <a:off x="6942687" y="1053307"/>
            <a:ext cx="4091586" cy="2803232"/>
          </a:xfrm>
          <a:prstGeom prst="rect">
            <a:avLst/>
          </a:prstGeom>
        </p:spPr>
      </p:pic>
      <p:sp>
        <p:nvSpPr>
          <p:cNvPr id="2" name="Content Placeholder 2">
            <a:extLst>
              <a:ext uri="{FF2B5EF4-FFF2-40B4-BE49-F238E27FC236}">
                <a16:creationId xmlns:a16="http://schemas.microsoft.com/office/drawing/2014/main" id="{BB4A5BF7-7569-CCC8-C2EC-AA4A8C91B416}"/>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top product by sales value is Trek Slash 8 27.5 - 2016 with 609.95K, followed by Trek Conduit+ - 2016 (430.42K) and Trek Fuel EX 8 29 - 2016 (410.08K).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 terms of quantity sold, Electra Cruiser 1 (24-Inch) - 2016 leads with 296 units, closely followed by Electra Townie Original 7D EQ - 2016 (290 units) and Electra Townie Original 21D - 2016 (289 units).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This shows that high sales value products are not necessarily the highest in quantity sold, suggesting premium pricing on certain models. Trek dominates high-value sales, while Electra products lead in volume.</a:t>
            </a:r>
          </a:p>
        </p:txBody>
      </p:sp>
    </p:spTree>
    <p:extLst>
      <p:ext uri="{BB962C8B-B14F-4D97-AF65-F5344CB8AC3E}">
        <p14:creationId xmlns:p14="http://schemas.microsoft.com/office/powerpoint/2010/main" val="1410884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934C-3F59-D5C7-BC9B-257ACF1609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65932B0-60AF-F3B5-3416-847A7F179C89}"/>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84FA51-7BB8-B9A2-1362-5C120E7A50B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32B29101-2706-6981-F6E8-0495628C1E3A}"/>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PRODUCT &amp; STOCK ANALYSIS</a:t>
            </a:r>
            <a:endParaRPr lang="en-US" sz="2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0F15BD3-49A6-7A60-6F50-81B4129D483C}"/>
              </a:ext>
            </a:extLst>
          </p:cNvPr>
          <p:cNvPicPr>
            <a:picLocks noChangeAspect="1"/>
          </p:cNvPicPr>
          <p:nvPr/>
        </p:nvPicPr>
        <p:blipFill>
          <a:blip r:embed="rId2"/>
          <a:stretch>
            <a:fillRect/>
          </a:stretch>
        </p:blipFill>
        <p:spPr>
          <a:xfrm>
            <a:off x="848806" y="1053307"/>
            <a:ext cx="3815404" cy="3022031"/>
          </a:xfrm>
          <a:prstGeom prst="rect">
            <a:avLst/>
          </a:prstGeom>
        </p:spPr>
      </p:pic>
      <p:pic>
        <p:nvPicPr>
          <p:cNvPr id="10" name="Picture 9">
            <a:extLst>
              <a:ext uri="{FF2B5EF4-FFF2-40B4-BE49-F238E27FC236}">
                <a16:creationId xmlns:a16="http://schemas.microsoft.com/office/drawing/2014/main" id="{FEF5F562-1786-4649-1BCD-0F1F7384F594}"/>
              </a:ext>
            </a:extLst>
          </p:cNvPr>
          <p:cNvPicPr>
            <a:picLocks noChangeAspect="1"/>
          </p:cNvPicPr>
          <p:nvPr/>
        </p:nvPicPr>
        <p:blipFill>
          <a:blip r:embed="rId3"/>
          <a:stretch>
            <a:fillRect/>
          </a:stretch>
        </p:blipFill>
        <p:spPr>
          <a:xfrm>
            <a:off x="6767352" y="1063557"/>
            <a:ext cx="3815405" cy="3011781"/>
          </a:xfrm>
          <a:prstGeom prst="rect">
            <a:avLst/>
          </a:prstGeom>
        </p:spPr>
      </p:pic>
      <p:sp>
        <p:nvSpPr>
          <p:cNvPr id="2" name="Content Placeholder 2">
            <a:extLst>
              <a:ext uri="{FF2B5EF4-FFF2-40B4-BE49-F238E27FC236}">
                <a16:creationId xmlns:a16="http://schemas.microsoft.com/office/drawing/2014/main" id="{11BBE4EB-28F4-3A38-1ACD-50EDD7C9D587}"/>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The price range analysis shows that most products fall between 500–2000 (126 items, 39.25%), followed by those priced under 500 (108 items, 33.64%), and premium products above 2000 (87 items, 27.1%).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Stock analysis reveals that 65.6% of products (616 items) have more than 10 units in stock, while 31.74% (298 items) have less than 10 units.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Only 2.66% (25 items) are completely out of stock, indicating generally healthy inventory levels.</a:t>
            </a:r>
          </a:p>
        </p:txBody>
      </p:sp>
    </p:spTree>
    <p:extLst>
      <p:ext uri="{BB962C8B-B14F-4D97-AF65-F5344CB8AC3E}">
        <p14:creationId xmlns:p14="http://schemas.microsoft.com/office/powerpoint/2010/main" val="1977753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A6F0B-97E9-A89B-5068-8D5E6A3651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213193-0C77-9335-5975-6700748AC3B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F58CB53-1B70-838D-B020-C655B1BF4EA2}"/>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E1BA22E8-6E97-C087-81CA-294C35A0CA63}"/>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BRAND ANALYSIS</a:t>
            </a:r>
            <a:endParaRPr lang="en-US"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1981FCB-A5BC-C161-F6F9-F397CBB82206}"/>
              </a:ext>
            </a:extLst>
          </p:cNvPr>
          <p:cNvPicPr>
            <a:picLocks noChangeAspect="1"/>
          </p:cNvPicPr>
          <p:nvPr/>
        </p:nvPicPr>
        <p:blipFill>
          <a:blip r:embed="rId2"/>
          <a:stretch>
            <a:fillRect/>
          </a:stretch>
        </p:blipFill>
        <p:spPr>
          <a:xfrm>
            <a:off x="848644" y="1053308"/>
            <a:ext cx="5421527" cy="2967502"/>
          </a:xfrm>
          <a:prstGeom prst="rect">
            <a:avLst/>
          </a:prstGeom>
        </p:spPr>
      </p:pic>
      <p:pic>
        <p:nvPicPr>
          <p:cNvPr id="13" name="Picture 12">
            <a:extLst>
              <a:ext uri="{FF2B5EF4-FFF2-40B4-BE49-F238E27FC236}">
                <a16:creationId xmlns:a16="http://schemas.microsoft.com/office/drawing/2014/main" id="{2DBBB801-9808-9C6C-8474-F11883A8D32D}"/>
              </a:ext>
            </a:extLst>
          </p:cNvPr>
          <p:cNvPicPr>
            <a:picLocks noChangeAspect="1"/>
          </p:cNvPicPr>
          <p:nvPr/>
        </p:nvPicPr>
        <p:blipFill>
          <a:blip r:embed="rId3"/>
          <a:stretch>
            <a:fillRect/>
          </a:stretch>
        </p:blipFill>
        <p:spPr>
          <a:xfrm>
            <a:off x="6349195" y="1053307"/>
            <a:ext cx="5617150" cy="2968760"/>
          </a:xfrm>
          <a:prstGeom prst="rect">
            <a:avLst/>
          </a:prstGeom>
        </p:spPr>
      </p:pic>
      <p:sp>
        <p:nvSpPr>
          <p:cNvPr id="2" name="Content Placeholder 2">
            <a:extLst>
              <a:ext uri="{FF2B5EF4-FFF2-40B4-BE49-F238E27FC236}">
                <a16:creationId xmlns:a16="http://schemas.microsoft.com/office/drawing/2014/main" id="{E61A684A-DA4B-59FC-50AE-7EA71549139C}"/>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Trek leads total sales by a wide margin at 5076.72K, followed by Electra (1330.26K) and Surly (1051.77K). In terms of quantity sold, Electra ranks first with 1729 units, ahead of Trek (1235 units) and Surly (605 units).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This indicates Trek’s dominance in revenue is driven by higher-priced products, while Electra’s strength lies in sales volume.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Brands like Sun Bicycles and Pure Cycles perform moderately in both sales and quantity, while Strider records minimal figures in both categories.</a:t>
            </a:r>
          </a:p>
        </p:txBody>
      </p:sp>
    </p:spTree>
    <p:extLst>
      <p:ext uri="{BB962C8B-B14F-4D97-AF65-F5344CB8AC3E}">
        <p14:creationId xmlns:p14="http://schemas.microsoft.com/office/powerpoint/2010/main" val="370696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5CC33-ECDC-C3CA-3697-4CE9A81739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C5F954-8298-DC05-E77A-02B73775FC70}"/>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365AD1E-FEF6-2D5D-3FD7-AE2F40BD471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A88B0E5B-9F65-B967-C72B-36BC1B7E5D4C}"/>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BRAND ANALYSIS</a:t>
            </a:r>
            <a:endParaRPr lang="en-US" sz="2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4D0ECC5-C594-1B88-7837-6413F86BC66B}"/>
              </a:ext>
            </a:extLst>
          </p:cNvPr>
          <p:cNvPicPr>
            <a:picLocks noChangeAspect="1"/>
          </p:cNvPicPr>
          <p:nvPr/>
        </p:nvPicPr>
        <p:blipFill>
          <a:blip r:embed="rId2"/>
          <a:stretch>
            <a:fillRect/>
          </a:stretch>
        </p:blipFill>
        <p:spPr>
          <a:xfrm>
            <a:off x="854774" y="1053307"/>
            <a:ext cx="5535391" cy="2842498"/>
          </a:xfrm>
          <a:prstGeom prst="rect">
            <a:avLst/>
          </a:prstGeom>
        </p:spPr>
      </p:pic>
      <p:pic>
        <p:nvPicPr>
          <p:cNvPr id="13" name="Picture 12">
            <a:extLst>
              <a:ext uri="{FF2B5EF4-FFF2-40B4-BE49-F238E27FC236}">
                <a16:creationId xmlns:a16="http://schemas.microsoft.com/office/drawing/2014/main" id="{F853B5C8-04DB-87B6-210F-4F2BD8739159}"/>
              </a:ext>
            </a:extLst>
          </p:cNvPr>
          <p:cNvPicPr>
            <a:picLocks noChangeAspect="1"/>
          </p:cNvPicPr>
          <p:nvPr/>
        </p:nvPicPr>
        <p:blipFill>
          <a:blip r:embed="rId3"/>
          <a:stretch>
            <a:fillRect/>
          </a:stretch>
        </p:blipFill>
        <p:spPr>
          <a:xfrm>
            <a:off x="6390165" y="1053307"/>
            <a:ext cx="5803126" cy="3016762"/>
          </a:xfrm>
          <a:prstGeom prst="rect">
            <a:avLst/>
          </a:prstGeom>
        </p:spPr>
      </p:pic>
      <p:sp>
        <p:nvSpPr>
          <p:cNvPr id="2" name="Content Placeholder 2">
            <a:extLst>
              <a:ext uri="{FF2B5EF4-FFF2-40B4-BE49-F238E27FC236}">
                <a16:creationId xmlns:a16="http://schemas.microsoft.com/office/drawing/2014/main" id="{FDE57DCA-0792-BCCE-EA6F-C2F555ED8FAE}"/>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Electra holds the largest customer share at 34.19%, followed by Trek (29.34%) and Surly (13.63%). Other brands like Sun Bicycles (9.13%) and Pure Cycles (4.78%) have smaller but notable portions.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 stock levels, Trek (5326 units) and Electra (5217 units) dominate inventory, while Surly (1079 units) and Sun Bicycles (1042 units) maintain moderate levels. </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Smaller brands such as Ritchey (45 units) and Pure Cycles (104 units) have limited stock availability.</a:t>
            </a:r>
          </a:p>
        </p:txBody>
      </p:sp>
    </p:spTree>
    <p:extLst>
      <p:ext uri="{BB962C8B-B14F-4D97-AF65-F5344CB8AC3E}">
        <p14:creationId xmlns:p14="http://schemas.microsoft.com/office/powerpoint/2010/main" val="2042129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A91D-8A15-FE50-8ED4-BAD2ABEA2C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15BAC5-93C5-F47A-BF9C-C051D553152D}"/>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5686CB7-380F-DA86-379E-B51DBC9BADCA}"/>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EF676ABD-70E3-D1F5-691F-2BE14359E9F1}"/>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STORE &amp; STAFF ANALYSIS</a:t>
            </a:r>
            <a:endParaRPr lang="en-US" sz="2400"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51918F89-0BA0-D93A-DBB7-7F0BFEF707B0}"/>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Baldwin Bikes dominates store sales with 5765.19K, contributing to 70.52% of the total customer share.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Santa Cruz Bikes follows with 1771.71K in sales and 19.65% of customers, while Rowlett Bikes records 953.09K in sales and 9.83% share.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This indicates that Baldwin Bikes is the primary revenue driver, while the other two stores hold much smaller portions of both sales and customer base.</a:t>
            </a:r>
          </a:p>
        </p:txBody>
      </p:sp>
      <p:pic>
        <p:nvPicPr>
          <p:cNvPr id="3" name="Picture 2">
            <a:extLst>
              <a:ext uri="{FF2B5EF4-FFF2-40B4-BE49-F238E27FC236}">
                <a16:creationId xmlns:a16="http://schemas.microsoft.com/office/drawing/2014/main" id="{A2D625FA-8209-1FA0-EB90-196F8FA31168}"/>
              </a:ext>
            </a:extLst>
          </p:cNvPr>
          <p:cNvPicPr>
            <a:picLocks noChangeAspect="1"/>
          </p:cNvPicPr>
          <p:nvPr/>
        </p:nvPicPr>
        <p:blipFill>
          <a:blip r:embed="rId2"/>
          <a:stretch>
            <a:fillRect/>
          </a:stretch>
        </p:blipFill>
        <p:spPr>
          <a:xfrm>
            <a:off x="892606" y="1026796"/>
            <a:ext cx="5374573" cy="2842498"/>
          </a:xfrm>
          <a:prstGeom prst="rect">
            <a:avLst/>
          </a:prstGeom>
        </p:spPr>
      </p:pic>
      <p:pic>
        <p:nvPicPr>
          <p:cNvPr id="10" name="Picture 9">
            <a:extLst>
              <a:ext uri="{FF2B5EF4-FFF2-40B4-BE49-F238E27FC236}">
                <a16:creationId xmlns:a16="http://schemas.microsoft.com/office/drawing/2014/main" id="{105143FC-5EE7-4014-EE19-710642B21913}"/>
              </a:ext>
            </a:extLst>
          </p:cNvPr>
          <p:cNvPicPr>
            <a:picLocks noChangeAspect="1"/>
          </p:cNvPicPr>
          <p:nvPr/>
        </p:nvPicPr>
        <p:blipFill>
          <a:blip r:embed="rId3"/>
          <a:stretch>
            <a:fillRect/>
          </a:stretch>
        </p:blipFill>
        <p:spPr>
          <a:xfrm>
            <a:off x="6390165" y="1053307"/>
            <a:ext cx="5511282" cy="2835962"/>
          </a:xfrm>
          <a:prstGeom prst="rect">
            <a:avLst/>
          </a:prstGeom>
        </p:spPr>
      </p:pic>
    </p:spTree>
    <p:extLst>
      <p:ext uri="{BB962C8B-B14F-4D97-AF65-F5344CB8AC3E}">
        <p14:creationId xmlns:p14="http://schemas.microsoft.com/office/powerpoint/2010/main" val="2249091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B874D-CE2B-670F-D334-79A1CC8315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1D79A4-6B11-BD6C-260A-25C35BEDF5E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F497C3B-4092-BB2B-0994-34F9491F26F2}"/>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551B8611-0408-8BDA-C11D-63EE298F7093}"/>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STORE &amp; STAFF ANALYSIS</a:t>
            </a:r>
            <a:endParaRPr lang="en-US" sz="2400"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2E8755C8-0BC5-71FB-535F-5118EFB9BF22}"/>
              </a:ext>
            </a:extLst>
          </p:cNvPr>
          <p:cNvPicPr>
            <a:picLocks noChangeAspect="1"/>
          </p:cNvPicPr>
          <p:nvPr/>
        </p:nvPicPr>
        <p:blipFill>
          <a:blip r:embed="rId2"/>
          <a:stretch>
            <a:fillRect/>
          </a:stretch>
        </p:blipFill>
        <p:spPr>
          <a:xfrm>
            <a:off x="6702829" y="1049776"/>
            <a:ext cx="4910051" cy="2653928"/>
          </a:xfrm>
          <a:prstGeom prst="rect">
            <a:avLst/>
          </a:prstGeom>
        </p:spPr>
      </p:pic>
      <p:pic>
        <p:nvPicPr>
          <p:cNvPr id="15" name="Picture 14">
            <a:extLst>
              <a:ext uri="{FF2B5EF4-FFF2-40B4-BE49-F238E27FC236}">
                <a16:creationId xmlns:a16="http://schemas.microsoft.com/office/drawing/2014/main" id="{02661057-BC94-227D-6ACB-4D8E8B6CD80C}"/>
              </a:ext>
            </a:extLst>
          </p:cNvPr>
          <p:cNvPicPr>
            <a:picLocks noChangeAspect="1"/>
          </p:cNvPicPr>
          <p:nvPr/>
        </p:nvPicPr>
        <p:blipFill>
          <a:blip r:embed="rId3"/>
          <a:stretch>
            <a:fillRect/>
          </a:stretch>
        </p:blipFill>
        <p:spPr>
          <a:xfrm>
            <a:off x="856904" y="1045614"/>
            <a:ext cx="5028507" cy="2658090"/>
          </a:xfrm>
          <a:prstGeom prst="rect">
            <a:avLst/>
          </a:prstGeom>
        </p:spPr>
      </p:pic>
      <p:sp>
        <p:nvSpPr>
          <p:cNvPr id="2" name="Content Placeholder 2">
            <a:extLst>
              <a:ext uri="{FF2B5EF4-FFF2-40B4-BE49-F238E27FC236}">
                <a16:creationId xmlns:a16="http://schemas.microsoft.com/office/drawing/2014/main" id="{9BC611DD-5F82-0558-B2D6-B7EC3E44915C}"/>
              </a:ext>
            </a:extLst>
          </p:cNvPr>
          <p:cNvSpPr txBox="1"/>
          <p:nvPr/>
        </p:nvSpPr>
        <p:spPr>
          <a:xfrm>
            <a:off x="769620" y="4180114"/>
            <a:ext cx="10663990" cy="2412787"/>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Marcelene leads staff sales with 2907.41K, closely followed by Venita at 2857.78K, while Genna (942.78K) and Mireya (828.93K) contribute moderately.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Kali (511.42K) and Layla (441.68K) have the lowest sales among the team. </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 total orders, Baldwin Bikes dominates with 3195 orders, far ahead of Santa Cruz Bikes (1006 orders) and Rowlett Bikes (521 orders), reinforcing Baldwin’s position as the top-performing store.</a:t>
            </a:r>
          </a:p>
        </p:txBody>
      </p:sp>
    </p:spTree>
    <p:extLst>
      <p:ext uri="{BB962C8B-B14F-4D97-AF65-F5344CB8AC3E}">
        <p14:creationId xmlns:p14="http://schemas.microsoft.com/office/powerpoint/2010/main" val="848728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FDC0-2114-8B71-A3B7-AD553F3D15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378DDC-25E1-E04A-9512-765056DF65C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2E44B05-F25E-48A4-013B-9716EDC9EEC8}"/>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B5120ECF-B9D3-4A41-99E3-1E5F8518F096}"/>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2A2AFFC5-9CB4-97F1-741B-C1825A540634}"/>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Low Customer Retention &amp; Incomplete Contact Data</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Out of 1,445 customers, only 131 are repeat buyers (less than 10%). The vast majority are one-time purchasers. Additionally, only 12.32% of customers have mobile numbers available for marketing—the rest have missing contact info.</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Limit's ability to build long-term customer loyalty and reduces the effectiveness of personalized outreach. Marketing campaigns cannot be directly targeted, leading to low repeat sales and missed upsell/cross-sell opportunities.</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Launch loyalty and referral programs, incentivizing repeat purchases.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Enhance data collection at every touchpoint (POS, website, support) to capture customer contact details.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Regularly update and validate customer database; employ email/phone collection campaigns.</a:t>
            </a:r>
          </a:p>
        </p:txBody>
      </p:sp>
    </p:spTree>
    <p:extLst>
      <p:ext uri="{BB962C8B-B14F-4D97-AF65-F5344CB8AC3E}">
        <p14:creationId xmlns:p14="http://schemas.microsoft.com/office/powerpoint/2010/main" val="4231843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0182D-EFE6-8954-54AC-561482B328A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E6F2A94-143C-B835-5B95-6EF4B9A6DC32}"/>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09D437F-0DD4-8B83-3035-631DAE50274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C3152C76-7DC4-BCE0-611F-8EA32BCA9C40}"/>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00D6BE35-8D7D-969C-64C2-CC1C68FCF373}"/>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Volatile Sales Trends &amp; One Time Event Spikes</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Sales peaked dramatically to nearly $900K in early 2018, but collapsed soon after, with minimal recovery. A single month accounted for 63.45% of sales, indicating revenue reliance on isolated events or campaigns.</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Unstable revenue stream makes forecasting and resource planning challenging. High risk during off-peak months, threatening cash flow and business sustainability.</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Develop a balanced annual marketing calendar with regular promotional events.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Diversify product offerings and customer segments to distribute sales more evenly.</a:t>
            </a:r>
          </a:p>
          <a:p>
            <a:pPr marL="285750" indent="-285750">
              <a:lnSpc>
                <a:spcPct val="100000"/>
              </a:lnSpc>
              <a:buFont typeface="Arial" panose="020B0604020202020204" pitchFamily="34" charset="0"/>
              <a:buChar char="•"/>
            </a:pPr>
            <a:r>
              <a:rPr lang="en-GB" sz="1600" dirty="0" err="1">
                <a:latin typeface="Arial" panose="020B0604020202020204" pitchFamily="34" charset="0"/>
                <a:cs typeface="Arial" panose="020B0604020202020204" pitchFamily="34" charset="0"/>
              </a:rPr>
              <a:t>Analyze</a:t>
            </a:r>
            <a:r>
              <a:rPr lang="en-GB" sz="1600" dirty="0">
                <a:latin typeface="Arial" panose="020B0604020202020204" pitchFamily="34" charset="0"/>
                <a:cs typeface="Arial" panose="020B0604020202020204" pitchFamily="34" charset="0"/>
              </a:rPr>
              <a:t> historical data to identify causes behind spikes and replicate best practices across periods.</a:t>
            </a:r>
          </a:p>
        </p:txBody>
      </p:sp>
    </p:spTree>
    <p:extLst>
      <p:ext uri="{BB962C8B-B14F-4D97-AF65-F5344CB8AC3E}">
        <p14:creationId xmlns:p14="http://schemas.microsoft.com/office/powerpoint/2010/main" val="2615974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D7B6A-D1B1-976A-A11C-E4651AD134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57CEB4-81DB-332E-990E-0479650CCCC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822D439-AA82-C6D3-CDCF-11CC89889D4A}"/>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5D2E5C61-E796-6D7C-26FE-DF0DFDBB6A3C}"/>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98E5589-C18C-B3EF-BDE0-4A658A6C3DD9}"/>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Inventory Imbalances &amp; Low Stock Risks</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About 32% of products (298 items) have fewer than 10 units in stock, and 25 items are out of stock. Meanwhile, over half of inventory (65.6%) remains healthy, often for premium brands.</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Risks of stockouts for popular items, resulting in lost sales, disappointed customers, and lower brand loyalty. Overstock ties up capital and space with slow-moving products.</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Implement automated stock alerts and demand-based replenishment.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Apply ABC analysis for inventory prioritization, focusing on high-impact products.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Coordinate regular inventory audits and optimize purchasing cycles.</a:t>
            </a:r>
          </a:p>
        </p:txBody>
      </p:sp>
    </p:spTree>
    <p:extLst>
      <p:ext uri="{BB962C8B-B14F-4D97-AF65-F5344CB8AC3E}">
        <p14:creationId xmlns:p14="http://schemas.microsoft.com/office/powerpoint/2010/main" val="2093252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B9A8-21C2-4AB5-22E0-EF699A8C47C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39FF48-9445-6FF6-2F31-D0E9779481A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23F95AB-CC59-E357-8F55-936840904A3E}"/>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981AF418-96C6-4191-27CB-88CEC313A778}"/>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1E46221-34A3-AD68-13CD-67376BD5C05C}"/>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Overdependence on Top Store and Brand</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Baldwin Bikes alone contributes 70.5% of sales and customer base. Trek dominates sales value (over $5M) despite Electra selling more units, showing a heavy skew to a few stores/brands.</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High business risk if top-performing store/brand face disruptions. Underperformance by other stores/brands limits overall growth and market reach.</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Develop targeted growth strategies for secondary stores and diversify brand promotions.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Invest in staff training and localized marketing in underperforming locations.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Regularly evaluate store/brand KPIs and adapt resource allocation accordingly.</a:t>
            </a:r>
          </a:p>
        </p:txBody>
      </p:sp>
    </p:spTree>
    <p:extLst>
      <p:ext uri="{BB962C8B-B14F-4D97-AF65-F5344CB8AC3E}">
        <p14:creationId xmlns:p14="http://schemas.microsoft.com/office/powerpoint/2010/main" val="951143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78EA7-661A-C25D-1004-C621E6807C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0C4ABB-466B-C9D4-1680-210F339972CD}"/>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A29F4DF-C877-539D-74BD-D3437A42A37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E06ECB0-0810-9744-7022-9C8C2EA427AA}"/>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05A033E-E943-CCC8-C227-74FBCF81E780}"/>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Price Range Misalignment &amp; Missed Market Segments</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Majority of products are priced between $500 - $2,000. Only 27% are premium (&gt; $2,000), while 33% are under $500. However, highest sales value comes from premium models; quantity sold is much higher for mid/low-priced items.</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Might miss opportunities in value or budget segments, particularly if inventory or campaigns focus excessively on premium offerings.</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Tailor marketing efforts to highlight value for money and affordable lines to broaden market reach.</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Use product segmentation analytics to guide future procurement and pricing strategies.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Bundle promotions or targeted discounts to move inventory across different price categories.</a:t>
            </a:r>
          </a:p>
        </p:txBody>
      </p:sp>
    </p:spTree>
    <p:extLst>
      <p:ext uri="{BB962C8B-B14F-4D97-AF65-F5344CB8AC3E}">
        <p14:creationId xmlns:p14="http://schemas.microsoft.com/office/powerpoint/2010/main" val="1594015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C9B1-4251-C265-28DF-20E8721762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9B5FC7-91E3-B82C-FD2C-A148EB04F62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E760774-A5A4-07E3-7EF6-2D2FF0AB30FA}"/>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8554073-3A4E-EB60-762B-50240545A7BB}"/>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119D9BB-37D5-E651-DA6C-1DFEBDC6497A}"/>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Staff Performance Inequalities</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Two staff members (Marcelene &amp; Venita) contribute disproportionately to total sales (combined over $5.7M). Others account for significantly less.</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Indicates uneven training, motivation, or customer assignment strategies. Limits overall sales potential and risks burnout for high performers.</a:t>
            </a:r>
          </a:p>
          <a:p>
            <a:pPr>
              <a:lnSpc>
                <a:spcPct val="100000"/>
              </a:lnSpc>
            </a:pPr>
            <a:r>
              <a:rPr lang="en-GB" sz="1600" b="1" dirty="0">
                <a:latin typeface="Arial" panose="020B0604020202020204" pitchFamily="34" charset="0"/>
                <a:cs typeface="Arial" panose="020B0604020202020204" pitchFamily="34" charset="0"/>
              </a:rPr>
              <a:t>Solution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Establish periodic staff training and mentorship programs, sharing top performer techniques.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Implement fair distribution of leads and customer interactions.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Utilize dashboard KPIs to monitor individual performance and incentivize improvement.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You can use each point as a slide or combine related points for a crisp, actionable presentation.</a:t>
            </a:r>
          </a:p>
        </p:txBody>
      </p:sp>
    </p:spTree>
    <p:extLst>
      <p:ext uri="{BB962C8B-B14F-4D97-AF65-F5344CB8AC3E}">
        <p14:creationId xmlns:p14="http://schemas.microsoft.com/office/powerpoint/2010/main" val="3612815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561F4-2683-F6FF-B863-F3D120F415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238A90-C524-2E1A-77BA-6BE8C4F8452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DD5EBB4-5702-036A-9C72-5D2472CCC49C}"/>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CE6D3E4E-A1EE-B1B8-52A7-573350815F9E}"/>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D08856FD-B386-7523-7BCB-4AD0D56869F2}"/>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After mid 2018</a:t>
            </a:r>
          </a:p>
          <a:p>
            <a:pPr>
              <a:lnSpc>
                <a:spcPct val="100000"/>
              </a:lnSpc>
            </a:pPr>
            <a:r>
              <a:rPr lang="en-GB" sz="1600" b="1" dirty="0">
                <a:latin typeface="Arial" panose="020B0604020202020204" pitchFamily="34" charset="0"/>
                <a:cs typeface="Arial" panose="020B0604020202020204" pitchFamily="34" charset="0"/>
              </a:rPr>
              <a:t>Observation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After mid-2018, there is a sharp and dramatic drop in sales, falling from a peak of $900K to almost zero, with minimal recovery seen in the subsequent months.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 sales trend chart indicates this collapse was sudden and was preceded by a unique spike, suggesting the peak was driven by a one-time event or campaign rather than sustained organic growth.</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No explicit reason for the drop is stated in your slide deck, and there are no references to operational disruptions, product delisting, store closure, or external market impacts within the provided content.</a:t>
            </a:r>
          </a:p>
          <a:p>
            <a:pPr>
              <a:lnSpc>
                <a:spcPct val="100000"/>
              </a:lnSpc>
            </a:pPr>
            <a:r>
              <a:rPr lang="en-GB" sz="1600" b="1" dirty="0">
                <a:latin typeface="Arial" panose="020B0604020202020204" pitchFamily="34" charset="0"/>
                <a:cs typeface="Arial" panose="020B0604020202020204" pitchFamily="34" charset="0"/>
              </a:rPr>
              <a:t>Possible Reasons (Based on Analysis &amp; Context)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Overdependence on singular campaigns/events: Previous sales spikes were concentrated within one particular month (which contributed 63.45% of annual sales), indicating reliance on seasonality or unique promotions. Once the event ended, regular sales activities were insufficient to maintain momentum.</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Lack of repeat business: With only 9% repeat customers, returning buyer rates are very low, so there was little customer loyalty to sustain sales after promotional spikes.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Customer data limitations: With only 12% customer mobile numbers recorded, follow-up marketing and re-engagement for post-event retention would have been severely restricted.</a:t>
            </a:r>
          </a:p>
        </p:txBody>
      </p:sp>
    </p:spTree>
    <p:extLst>
      <p:ext uri="{BB962C8B-B14F-4D97-AF65-F5344CB8AC3E}">
        <p14:creationId xmlns:p14="http://schemas.microsoft.com/office/powerpoint/2010/main" val="4001989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14177-AF8A-7E6D-C110-B602F7197C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15B09B-5F76-B6D6-4B40-2967E66DBA7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6F2ED81-6559-E178-DFEC-85D93E05C23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4EFEC45B-F2B2-9A81-6CAB-FBA6661DA850}"/>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D2DE8BA-A11F-3912-BB42-7E84C4793FF4}"/>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Inventory and stock issues: While not explicitly linked, it’s possible that popular products went out of stock after the rush, leaving little to sell in subsequent months (see low stock alerts).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Geographic concentration: With most customers in a single state (New York, 70%), local market saturation or changes could have outsized effects on performance.</a:t>
            </a:r>
          </a:p>
          <a:p>
            <a:pPr>
              <a:lnSpc>
                <a:spcPct val="100000"/>
              </a:lnSpc>
            </a:pPr>
            <a:r>
              <a:rPr lang="en-GB" sz="1600" b="1" dirty="0">
                <a:latin typeface="Arial" panose="020B0604020202020204" pitchFamily="34" charset="0"/>
                <a:cs typeface="Arial" panose="020B0604020202020204" pitchFamily="34" charset="0"/>
              </a:rPr>
              <a:t>Impact</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Revenue declined sharply, disrupting cash flow and operational planning.</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Greater business risk if future campaigns do not repeat past success or if market conditions change.</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Impaired long-term growth and competitive positioning due to reliance on isolated peaks.</a:t>
            </a:r>
          </a:p>
          <a:p>
            <a:pPr>
              <a:lnSpc>
                <a:spcPct val="100000"/>
              </a:lnSpc>
            </a:pPr>
            <a:r>
              <a:rPr lang="en-GB" sz="1600" b="1" dirty="0">
                <a:latin typeface="Arial" panose="020B0604020202020204" pitchFamily="34" charset="0"/>
                <a:cs typeface="Arial" panose="020B0604020202020204" pitchFamily="34" charset="0"/>
              </a:rPr>
              <a:t>Solutions</a:t>
            </a:r>
          </a:p>
          <a:p>
            <a:pPr>
              <a:lnSpc>
                <a:spcPct val="100000"/>
              </a:lnSpc>
            </a:pPr>
            <a:r>
              <a:rPr lang="en-GB" sz="1600" b="1" dirty="0">
                <a:latin typeface="Arial" panose="020B0604020202020204" pitchFamily="34" charset="0"/>
                <a:cs typeface="Arial" panose="020B0604020202020204" pitchFamily="34" charset="0"/>
              </a:rPr>
              <a:t>Diversify Marketing Activities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Create a year-round promotional calendar with regular campaigns (holiday, themed, loyalty rewards) to smooth revenue cycles and avoid dependency on single events.</a:t>
            </a:r>
          </a:p>
          <a:p>
            <a:pPr>
              <a:lnSpc>
                <a:spcPct val="100000"/>
              </a:lnSpc>
            </a:pPr>
            <a:r>
              <a:rPr lang="en-GB" sz="1600" b="1" dirty="0">
                <a:latin typeface="Arial" panose="020B0604020202020204" pitchFamily="34" charset="0"/>
                <a:cs typeface="Arial" panose="020B0604020202020204" pitchFamily="34" charset="0"/>
              </a:rPr>
              <a:t>Strengthen Customer Retention Efforts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Invest in loyalty and referral programs to encourage repeat purchases, nurturing a base of customers who provide steady revenue between major campaigns.</a:t>
            </a:r>
          </a:p>
        </p:txBody>
      </p:sp>
    </p:spTree>
    <p:extLst>
      <p:ext uri="{BB962C8B-B14F-4D97-AF65-F5344CB8AC3E}">
        <p14:creationId xmlns:p14="http://schemas.microsoft.com/office/powerpoint/2010/main" val="1089748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2077C-4914-89CA-0C6A-418D37983C4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92B4FA-19CB-C16C-44DD-B971AE430B98}"/>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7599AA7-8EE3-9447-951C-A7CD93C1EFC6}"/>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8ED270ED-CD17-EABB-9F31-6E6B3B8F9ECF}"/>
              </a:ext>
            </a:extLst>
          </p:cNvPr>
          <p:cNvSpPr txBox="1"/>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Arial" panose="020B0604020202020204" pitchFamily="34" charset="0"/>
                <a:cs typeface="Arial" panose="020B0604020202020204" pitchFamily="34" charset="0"/>
              </a:rPr>
              <a:t>BUSINESS SUGGESSTIONS</a:t>
            </a:r>
            <a:endParaRPr lang="en-US" sz="2400"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20BA2ED-5D93-D437-6F1A-4570B16B9AD4}"/>
              </a:ext>
            </a:extLst>
          </p:cNvPr>
          <p:cNvSpPr txBox="1"/>
          <p:nvPr/>
        </p:nvSpPr>
        <p:spPr>
          <a:xfrm>
            <a:off x="770837" y="1265339"/>
            <a:ext cx="10663990" cy="5539594"/>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9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9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9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GB" sz="1600" b="1" dirty="0">
                <a:latin typeface="Arial" panose="020B0604020202020204" pitchFamily="34" charset="0"/>
                <a:cs typeface="Arial" panose="020B0604020202020204" pitchFamily="34" charset="0"/>
              </a:rPr>
              <a:t>Solutions</a:t>
            </a:r>
          </a:p>
          <a:p>
            <a:pPr>
              <a:lnSpc>
                <a:spcPct val="100000"/>
              </a:lnSpc>
            </a:pPr>
            <a:r>
              <a:rPr lang="en-GB" sz="1600" b="1" dirty="0">
                <a:latin typeface="Arial" panose="020B0604020202020204" pitchFamily="34" charset="0"/>
                <a:cs typeface="Arial" panose="020B0604020202020204" pitchFamily="34" charset="0"/>
              </a:rPr>
              <a:t>Improve Customer Data Collection</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Enhance efforts to record customer contact details during every interaction; use incentives to encourage customers to share information for future communication.</a:t>
            </a:r>
          </a:p>
          <a:p>
            <a:pPr>
              <a:lnSpc>
                <a:spcPct val="100000"/>
              </a:lnSpc>
            </a:pPr>
            <a:r>
              <a:rPr lang="en-GB" sz="1600" b="1" dirty="0">
                <a:latin typeface="Arial" panose="020B0604020202020204" pitchFamily="34" charset="0"/>
                <a:cs typeface="Arial" panose="020B0604020202020204" pitchFamily="34" charset="0"/>
              </a:rPr>
              <a:t>Expand Geographic Focus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Target underrepresented regions (e.g., California, Texas) with marketing and promotions to reduce concentration risk and engage new customer segments.</a:t>
            </a:r>
          </a:p>
          <a:p>
            <a:pPr>
              <a:lnSpc>
                <a:spcPct val="100000"/>
              </a:lnSpc>
            </a:pPr>
            <a:r>
              <a:rPr lang="en-GB" sz="1600" b="1" dirty="0">
                <a:latin typeface="Arial" panose="020B0604020202020204" pitchFamily="34" charset="0"/>
                <a:cs typeface="Arial" panose="020B0604020202020204" pitchFamily="34" charset="0"/>
              </a:rPr>
              <a:t>Inventory Planning</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Use sales trend data to forecast demand post-event and align stock replenishment accordingly, ensuring popular products are always available.</a:t>
            </a:r>
          </a:p>
          <a:p>
            <a:pPr>
              <a:lnSpc>
                <a:spcPct val="100000"/>
              </a:lnSpc>
            </a:pPr>
            <a:r>
              <a:rPr lang="en-GB" sz="1600" b="1" dirty="0">
                <a:latin typeface="Arial" panose="020B0604020202020204" pitchFamily="34" charset="0"/>
                <a:cs typeface="Arial" panose="020B0604020202020204" pitchFamily="34" charset="0"/>
              </a:rPr>
              <a:t>Post Event Follow Up</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Implement automated re-engagement workflows (email, SMS, targeted ads) immediately after large events or campaigns to convert first-time buyers into repeat customers.</a:t>
            </a:r>
          </a:p>
          <a:p>
            <a:pPr marL="285750" indent="-285750">
              <a:lnSpc>
                <a:spcPct val="100000"/>
              </a:lnSpc>
              <a:buFont typeface="Arial" panose="020B0604020202020204" pitchFamily="34" charset="0"/>
              <a:buChar char="•"/>
            </a:pPr>
            <a:r>
              <a:rPr lang="en-GB" sz="1600" dirty="0">
                <a:latin typeface="Arial" panose="020B0604020202020204" pitchFamily="34" charset="0"/>
                <a:cs typeface="Arial" panose="020B0604020202020204" pitchFamily="34" charset="0"/>
              </a:rPr>
              <a:t>By applying these solutions, you can reduce sales volatility, improve customer lifetime value, and protect overall business health against sudden downturns.</a:t>
            </a:r>
          </a:p>
        </p:txBody>
      </p:sp>
    </p:spTree>
    <p:extLst>
      <p:ext uri="{BB962C8B-B14F-4D97-AF65-F5344CB8AC3E}">
        <p14:creationId xmlns:p14="http://schemas.microsoft.com/office/powerpoint/2010/main" val="3694355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1075</TotalTime>
  <Words>2755</Words>
  <Application>Microsoft Office PowerPoint</Application>
  <PresentationFormat>Widescreen</PresentationFormat>
  <Paragraphs>190</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303</cp:revision>
  <dcterms:created xsi:type="dcterms:W3CDTF">2025-06-24T15:09:55Z</dcterms:created>
  <dcterms:modified xsi:type="dcterms:W3CDTF">2025-08-15T14:42:27Z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0876263DB20E56FB31534868629DD8A2_42</vt:lpwstr>
  </property>
  <property fmtid="{D5CDD505-2E9C-101B-9397-08002B2CF9AE}" pid="3" name="KSOProductBuildVer">
    <vt:lpwstr>1033-6.14.0.8718</vt:lpwstr>
  </property>
</Properties>
</file>